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Divisão sugerida da 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Quatro participantes, duração alvo de aproximadamente 14 a 18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71600"/>
            <a:ext cx="1074420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371600"/>
            <a:ext cx="118872" cy="877824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45143"/>
            <a:ext cx="1261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rPr dirty="0"/>
              <a:t>Pessoa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1645143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rPr dirty="0"/>
              <a:t>Slides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16451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rPr dirty="0" err="1"/>
              <a:t>Abertura</a:t>
            </a:r>
            <a:r>
              <a:rPr dirty="0"/>
              <a:t>, </a:t>
            </a:r>
            <a:r>
              <a:rPr dirty="0" err="1"/>
              <a:t>objetivo</a:t>
            </a:r>
            <a:r>
              <a:rPr dirty="0"/>
              <a:t>, </a:t>
            </a:r>
            <a:r>
              <a:rPr dirty="0" err="1"/>
              <a:t>escopo</a:t>
            </a:r>
            <a:r>
              <a:rPr dirty="0"/>
              <a:t> e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funcionais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6459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4–5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14600"/>
            <a:ext cx="1074420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2514600"/>
            <a:ext cx="118872" cy="87782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788920"/>
            <a:ext cx="1261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Pessoa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7889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Slides 6 a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788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funcionais</a:t>
            </a:r>
            <a:r>
              <a:rPr dirty="0"/>
              <a:t>, </a:t>
            </a:r>
            <a:r>
              <a:rPr dirty="0" err="1"/>
              <a:t>solução</a:t>
            </a:r>
            <a:r>
              <a:rPr dirty="0"/>
              <a:t> e </a:t>
            </a:r>
            <a:r>
              <a:rPr dirty="0" err="1"/>
              <a:t>experiência</a:t>
            </a:r>
            <a:r>
              <a:rPr dirty="0"/>
              <a:t> da Landing Page.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7889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4–5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657600"/>
            <a:ext cx="1074420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657600"/>
            <a:ext cx="118872" cy="877824"/>
          </a:xfrm>
          <a:prstGeom prst="rect">
            <a:avLst/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3936060"/>
            <a:ext cx="1261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8A020"/>
                </a:solidFill>
                <a:latin typeface="Aptos"/>
              </a:defRPr>
            </a:pPr>
            <a:r>
              <a:rPr dirty="0"/>
              <a:t>Pessoa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393606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Slides 10 a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39360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Planos, JavaScript, estrutura técnica e aderência do protótipo.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9319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4–5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00600"/>
            <a:ext cx="10744200" cy="877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" y="4800600"/>
            <a:ext cx="118872" cy="877824"/>
          </a:xfrm>
          <a:prstGeom prst="rect">
            <a:avLst/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074920"/>
            <a:ext cx="126187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53E2F"/>
                </a:solidFill>
                <a:latin typeface="Aptos"/>
              </a:defRPr>
            </a:pPr>
            <a:r>
              <a:t>Pessoa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50749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Slides 14 a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5074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Próximas etapas, conclusão e condução de perguntas.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507492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3–4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A"/>
          </a:solidFill>
          <a:ln>
            <a:solidFill>
              <a:srgbClr val="F0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812261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69080" y="0"/>
            <a:ext cx="146304" cy="6858000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74980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2808" y="74066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0">
                <a:solidFill>
                  <a:srgbClr val="96CDE1"/>
                </a:solidFill>
                <a:latin typeface="Aptos Display"/>
              </a:defRPr>
            </a:pPr>
            <a:r>
              <a:rPr dirty="0"/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BEDCE9"/>
                </a:solidFill>
                <a:latin typeface="Aptos"/>
              </a:defRPr>
            </a:pPr>
            <a:r>
              <a:t>DESAFIO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2834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Camada de Entrada,</a:t>
            </a:r>
          </a:p>
          <a:p>
            <a:pPr algn="l">
              <a:spcAft>
                <a:spcPts val="400"/>
              </a:spcAft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Aquisição e Identidade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880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D7E7EF"/>
                </a:solidFill>
                <a:latin typeface="Aptos"/>
              </a:defRPr>
            </a:pPr>
            <a:r>
              <a:t>Apresentação acadêmica do protótipo web e dos requisitos do projeto.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EDCE9"/>
                </a:solidFill>
                <a:latin typeface="Aptos"/>
              </a:defRPr>
            </a:pPr>
            <a:r>
              <a:t>Landing Page • Autenticação • Perfis • Planos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969264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2D4A5F"/>
                </a:solidFill>
                <a:latin typeface="Aptos Display"/>
              </a:defRPr>
            </a:pPr>
            <a:r>
              <a:rPr dirty="0" err="1"/>
              <a:t>SAFEpass</a:t>
            </a:r>
            <a:r>
              <a:rPr dirty="0"/>
              <a:t>: </a:t>
            </a:r>
            <a:r>
              <a:rPr dirty="0" err="1"/>
              <a:t>proteção</a:t>
            </a:r>
            <a:r>
              <a:rPr dirty="0"/>
              <a:t>, </a:t>
            </a:r>
            <a:r>
              <a:rPr dirty="0" err="1"/>
              <a:t>saúde</a:t>
            </a:r>
            <a:r>
              <a:rPr dirty="0"/>
              <a:t> e </a:t>
            </a:r>
            <a:r>
              <a:rPr dirty="0" err="1"/>
              <a:t>benefícios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lugar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846320" y="1773936"/>
            <a:ext cx="61264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64748B"/>
                </a:solidFill>
                <a:latin typeface="Aptos"/>
              </a:defRPr>
            </a:pPr>
            <a:r>
              <a:rPr dirty="0" err="1"/>
              <a:t>Proposta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porta de entrada para o </a:t>
            </a:r>
            <a:r>
              <a:rPr dirty="0" err="1"/>
              <a:t>ecossistema</a:t>
            </a:r>
            <a:r>
              <a:rPr dirty="0"/>
              <a:t> </a:t>
            </a:r>
            <a:r>
              <a:rPr dirty="0" err="1"/>
              <a:t>SAFEpass</a:t>
            </a:r>
            <a:r>
              <a:rPr dirty="0"/>
              <a:t>, </a:t>
            </a:r>
            <a:r>
              <a:rPr dirty="0" err="1"/>
              <a:t>conectando</a:t>
            </a:r>
            <a:r>
              <a:rPr dirty="0"/>
              <a:t> </a:t>
            </a:r>
            <a:r>
              <a:rPr dirty="0" err="1"/>
              <a:t>usuários</a:t>
            </a:r>
            <a:r>
              <a:rPr dirty="0"/>
              <a:t>, </a:t>
            </a:r>
            <a:r>
              <a:rPr dirty="0" err="1"/>
              <a:t>prestadores</a:t>
            </a:r>
            <a:r>
              <a:rPr dirty="0"/>
              <a:t> e </a:t>
            </a:r>
            <a:r>
              <a:rPr dirty="0" err="1"/>
              <a:t>empresas</a:t>
            </a:r>
            <a:r>
              <a:rPr dirty="0"/>
              <a:t> a </a:t>
            </a:r>
            <a:r>
              <a:rPr dirty="0" err="1"/>
              <a:t>uma</a:t>
            </a:r>
            <a:r>
              <a:rPr dirty="0"/>
              <a:t> jornada de </a:t>
            </a:r>
            <a:r>
              <a:rPr dirty="0" err="1"/>
              <a:t>cuidado</a:t>
            </a:r>
            <a:r>
              <a:rPr dirty="0"/>
              <a:t> e </a:t>
            </a:r>
            <a:r>
              <a:rPr dirty="0" err="1"/>
              <a:t>proteção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88920"/>
            <a:ext cx="2788920" cy="868680"/>
          </a:xfrm>
          <a:prstGeom prst="roundRect">
            <a:avLst>
              <a:gd name="adj" fmla="val 12000"/>
            </a:avLst>
          </a:prstGeom>
          <a:solidFill>
            <a:srgbClr val="EBF4FA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7488" y="299008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96128" y="303580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Landing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788920"/>
            <a:ext cx="2788920" cy="868680"/>
          </a:xfrm>
          <a:prstGeom prst="roundRect">
            <a:avLst>
              <a:gd name="adj" fmla="val 12000"/>
            </a:avLst>
          </a:prstGeom>
          <a:solidFill>
            <a:srgbClr val="EBF4FA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02168" y="299008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0808" y="303580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Identidade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023360"/>
            <a:ext cx="2788920" cy="868680"/>
          </a:xfrm>
          <a:prstGeom prst="roundRect">
            <a:avLst>
              <a:gd name="adj" fmla="val 12000"/>
            </a:avLst>
          </a:prstGeom>
          <a:solidFill>
            <a:srgbClr val="EBF4FA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47488" y="422452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96128" y="427024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Planos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023360"/>
            <a:ext cx="2788920" cy="868680"/>
          </a:xfrm>
          <a:prstGeom prst="roundRect">
            <a:avLst>
              <a:gd name="adj" fmla="val 12000"/>
            </a:avLst>
          </a:prstGeom>
          <a:solidFill>
            <a:srgbClr val="EBF4FA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02168" y="4224528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50808" y="4270248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Integração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897880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Equipe: Pessoa 1 • Pessoa 2 • Pessoa 3 • Pessoa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Roteiro da 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Tempo estimado: 10 a 20 minutos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1" y="1920240"/>
            <a:ext cx="694599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4A9E8E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134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Contexto e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791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1–2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1" y="1920240"/>
            <a:ext cx="68683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4A9E8E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3134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Escopo e requisitos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6791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3–4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9164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77071" y="1920240"/>
            <a:ext cx="627313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4A9E8E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3134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Solução e interfaces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6791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3–5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69459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4A9E8E"/>
                </a:solidFill>
                <a:latin typeface="Aptos"/>
              </a:defRPr>
            </a:pPr>
            <a:r>
              <a:rPr dirty="0"/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27939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Código e interações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6451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3–4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65760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82312" y="3886200"/>
            <a:ext cx="68683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100" b="1">
                <a:solidFill>
                  <a:srgbClr val="4A9E8E"/>
                </a:solidFill>
                <a:latin typeface="Aptos"/>
              </a:defRPr>
            </a:pPr>
            <a:r>
              <a:rPr dirty="0"/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4279392"/>
            <a:ext cx="2946956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rPr dirty="0" err="1"/>
              <a:t>Limitações</a:t>
            </a:r>
            <a:r>
              <a:rPr dirty="0"/>
              <a:t> e </a:t>
            </a:r>
            <a:r>
              <a:rPr dirty="0" err="1"/>
              <a:t>próximos</a:t>
            </a:r>
            <a:r>
              <a:rPr dirty="0"/>
              <a:t> </a:t>
            </a:r>
            <a:r>
              <a:rPr dirty="0" err="1"/>
              <a:t>passos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4782312" y="46451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2–3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Contexto e objetivo do Desafio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base de entrada do ecossistema SAFEpass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446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1A2E3B"/>
                </a:solidFill>
                <a:latin typeface="Aptos"/>
              </a:defRPr>
            </a:pPr>
            <a:r>
              <a:t>O Desafio 01 concentra a primeira experiência do público com a plataforma e estabelece a base de identidade consumida pelos demais desafios.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572768"/>
            <a:ext cx="40690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52360" y="1572768"/>
            <a:ext cx="91440" cy="1097280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77393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OBJETIVO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57984"/>
            <a:ext cx="365760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Atrair, converter e identificar usuários, prestadores, empresas e administradores.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880360"/>
            <a:ext cx="40690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2880360"/>
            <a:ext cx="91440" cy="1097280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30815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PAPEL NO ECOSSISTEMA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465576"/>
            <a:ext cx="365760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Fornecer autenticação, perfis, sessões, planos e contratos de integração.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187952"/>
            <a:ext cx="40690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4187952"/>
            <a:ext cx="91440" cy="1097280"/>
          </a:xfrm>
          <a:prstGeom prst="rect">
            <a:avLst/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43891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53E2F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773168"/>
            <a:ext cx="365760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Uma experiência pública responsiva que direciona o visitante para cadastro e contratação.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6080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2E3B"/>
                </a:solidFill>
                <a:latin typeface="Aptos"/>
              </a:defRPr>
            </a:pPr>
            <a:r>
              <a:t>• Landing Page como porta de aquisição</a:t>
            </a:r>
          </a:p>
          <a:p>
            <a:pPr>
              <a:spcAft>
                <a:spcPts val="1000"/>
              </a:spcAft>
              <a:defRPr sz="1700">
                <a:solidFill>
                  <a:srgbClr val="1A2E3B"/>
                </a:solidFill>
                <a:latin typeface="Aptos"/>
              </a:defRPr>
            </a:pPr>
            <a:r>
              <a:t>• Gestão de identidade como serviço transversal</a:t>
            </a:r>
          </a:p>
          <a:p>
            <a:pPr>
              <a:spcAft>
                <a:spcPts val="1000"/>
              </a:spcAft>
              <a:defRPr sz="1700">
                <a:solidFill>
                  <a:srgbClr val="1A2E3B"/>
                </a:solidFill>
                <a:latin typeface="Aptos"/>
              </a:defRPr>
            </a:pPr>
            <a:r>
              <a:t>• Modelo freemium para apresentar os planos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Escopo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O que o Desafio 01 cobre — e o que permanece para outros módulos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4A9E8E"/>
                </a:solidFill>
                <a:latin typeface="Aptos"/>
              </a:defRPr>
            </a:pPr>
            <a:r>
              <a:t>Dentro do escopo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727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53E2F"/>
                </a:solidFill>
                <a:latin typeface="Aptos"/>
              </a:defRPr>
            </a:pPr>
            <a:r>
              <a:t>Fora do escopo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5212080" cy="3611880"/>
          </a:xfrm>
          <a:prstGeom prst="roundRect">
            <a:avLst>
              <a:gd name="adj" fmla="val 12000"/>
            </a:avLst>
          </a:prstGeom>
          <a:solidFill>
            <a:srgbClr val="F0FAF7"/>
          </a:solidFill>
          <a:ln>
            <a:solidFill>
              <a:srgbClr val="C2E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4681728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Landing page institucional e CTAs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Login, logout e recuperação de senha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Perfis: usuário, prestador, empresa e administrador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Planos, termos, contratos e pagamento recorrente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Painel administrativo mínimo e contratos de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993392"/>
            <a:ext cx="5230368" cy="361188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>
            <a:solidFill>
              <a:srgbClr val="F6C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267712"/>
            <a:ext cx="4681728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Marketplace avançado (Desafio 2)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Pontos e cupons completos (Desafio 3)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OCR, documentos e alertas de saúde (Desafio 4)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Histórico médico aprofundado (Desafio 5)</a:t>
            </a:r>
          </a:p>
          <a:p>
            <a:pPr>
              <a:spcAft>
                <a:spcPts val="1000"/>
              </a:spcAft>
              <a:defRPr sz="1400">
                <a:solidFill>
                  <a:srgbClr val="1A2E3B"/>
                </a:solidFill>
                <a:latin typeface="Aptos"/>
              </a:defRPr>
            </a:pPr>
            <a:r>
              <a:t>• Gateway de pagamento próprio e suporte omnichannel avançado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Requisitos funcionais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Principais capacidades previstas na especificação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960120" cy="594360"/>
          </a:xfrm>
          <a:prstGeom prst="roundRect">
            <a:avLst>
              <a:gd name="adj" fmla="val 12000"/>
            </a:avLst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673351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RF01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91056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Landing Page pública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37943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Estrutura responsiva, CTAs e fluxo de conversão.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41448"/>
            <a:ext cx="960120" cy="594360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" y="2606040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23744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Identidade e sessão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70632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Cadastro, login, logout, recuperação e RBAC.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74136"/>
            <a:ext cx="960120" cy="594360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3538728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RF03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56432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Cadastros por perfil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03320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Dados mínimos de usuário, prestador e empresa.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06824"/>
            <a:ext cx="960120" cy="594360"/>
          </a:xfrm>
          <a:prstGeom prst="roundRect">
            <a:avLst>
              <a:gd name="adj" fmla="val 12000"/>
            </a:avLst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" y="4471416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RF04–05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8912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Planos e pagamentos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636008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Free, Aura, Aura+, aceite e recorrência.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39512"/>
            <a:ext cx="960120" cy="594360"/>
          </a:xfrm>
          <a:prstGeom prst="roundRect">
            <a:avLst>
              <a:gd name="adj" fmla="val 12000"/>
            </a:avLst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" y="5404104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RF06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321808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Administração 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568696"/>
            <a:ext cx="7863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Gestão restrita de cadastros, planos e conteúdos.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Requisitos não funcionais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Qualidades essenciais para a evolução da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0156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91440" cy="1389888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Responsividade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85416"/>
            <a:ext cx="2990088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Telas adaptadas a celular, tablet e desktop.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40156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600200"/>
            <a:ext cx="91440" cy="1389888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0136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85416"/>
            <a:ext cx="2990088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Senhas com Argon2/bcrypt e tráfego HTTPS.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40156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600200"/>
            <a:ext cx="91440" cy="1389888"/>
          </a:xfrm>
          <a:prstGeom prst="rect">
            <a:avLst/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80136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8A020"/>
                </a:solidFill>
                <a:latin typeface="Aptos"/>
              </a:defRPr>
            </a:pPr>
            <a:r>
              <a:t>Confiabilidade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85416"/>
            <a:ext cx="2990088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Timeouts, exceções e webhooks de pagamento tratados com segurança.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40156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66160"/>
            <a:ext cx="91440" cy="1389888"/>
          </a:xfrm>
          <a:prstGeom prst="rect">
            <a:avLst/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6732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53E2F"/>
                </a:solidFill>
                <a:latin typeface="Aptos"/>
              </a:defRPr>
            </a:pPr>
            <a:r>
              <a:t>Desempenho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51376"/>
            <a:ext cx="2990088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Tempo de resposta otimizado na camada de entrada.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566160"/>
            <a:ext cx="3401568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566160"/>
            <a:ext cx="91440" cy="1389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376732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Modularidade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151376"/>
            <a:ext cx="2990088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Contratos de API documentados para integração com os demais squads.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Solução apresentada no protótipo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Experiência pública organizada em uma única Landing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52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700" b="0">
                <a:solidFill>
                  <a:srgbClr val="1A2E3B"/>
                </a:solidFill>
                <a:latin typeface="Aptos"/>
              </a:defRPr>
            </a:pPr>
            <a:r>
              <a:t>A interface usa uma identidade visual consistente, com tons de azul, verde-água, vermelho e amarelo; tipografia voltada à clareza; cartões, CTAs e modais.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91440" cy="1143000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299008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Navegação fixa com ações de entrar e cadastro.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33172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331720"/>
            <a:ext cx="91440" cy="1143000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253288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Hero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16936"/>
            <a:ext cx="299008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Mensagem principal e proposta de valor.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33172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2331720"/>
            <a:ext cx="91440" cy="1143000"/>
          </a:xfrm>
          <a:prstGeom prst="rect">
            <a:avLst/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53288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8A020"/>
                </a:solidFill>
                <a:latin typeface="Aptos"/>
              </a:defRPr>
            </a:pPr>
            <a:r>
              <a:t>Públicos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16936"/>
            <a:ext cx="299008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Usuário, prestador e empresa.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886200"/>
            <a:ext cx="91440" cy="1143000"/>
          </a:xfrm>
          <a:prstGeom prst="rect">
            <a:avLst/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08736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53E2F"/>
                </a:solidFill>
                <a:latin typeface="Aptos"/>
              </a:defRPr>
            </a:pPr>
            <a:r>
              <a:t>Jornada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71416"/>
            <a:ext cx="299008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Cadastro, busca, avaliação e benefícios.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88620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886200"/>
            <a:ext cx="91440" cy="1143000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408736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Planos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471416"/>
            <a:ext cx="299008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Free, Aura e Aura+.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886200"/>
            <a:ext cx="3401568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886200"/>
            <a:ext cx="91440" cy="1143000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4087368"/>
            <a:ext cx="2990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Engajamento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471416"/>
            <a:ext cx="299008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Depoimentos, avaliação e indicação.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Públicos atendidos e 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Três perfis apresentados diretamente na Landing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40156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56816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80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D4A5F"/>
                </a:solidFill>
                <a:latin typeface="Aptos"/>
              </a:defRPr>
            </a:pPr>
            <a:r>
              <a:t>Sou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1568"/>
            <a:ext cx="27614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Proteção familiar, descontos em saúde, exames, vacinas e pets; avaliações que geram pontos.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91640"/>
            <a:ext cx="340156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36592" y="1956816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121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880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D4A5F"/>
                </a:solidFill>
                <a:latin typeface="Aptos"/>
              </a:defRPr>
            </a:pPr>
            <a:r>
              <a:t>Sou Prestador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401568"/>
            <a:ext cx="27614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Mais visibilidade, gestão do corpo clínico e oferta de cupons sem burocracia de convênios.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691640"/>
            <a:ext cx="3401568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58784" y="1956816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2121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880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2D4A5F"/>
                </a:solidFill>
                <a:latin typeface="Aptos"/>
              </a:defRPr>
            </a:pPr>
            <a:r>
              <a:t>Sou Empresa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401568"/>
            <a:ext cx="2761488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Benefício para colaboradores e gerenciamento digital de atestados.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440680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O requisito também prevê o perfil Administrador, destinado ao painel interno do MVP; ele não está representado como público comercial na Landing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Jornada do usuário no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Fluxo apresentado na seção “Como entrar no universo SAFE?”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01168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90472" y="2267712"/>
            <a:ext cx="694944" cy="694944"/>
          </a:xfrm>
          <a:prstGeom prst="roundRect">
            <a:avLst>
              <a:gd name="adj" fmla="val 12000"/>
            </a:avLst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0472" y="2450592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461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Cadastre-se grátis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73075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Criação de conta e entrada na plataforma.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99923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A6B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01168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79976" y="2267712"/>
            <a:ext cx="694944" cy="694944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9976" y="2450592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32461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Encontre o melhor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73075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Filtros por preço, especialidade e localização.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299923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A6B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269480" y="2267712"/>
            <a:ext cx="694944" cy="694944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2450592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461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Avalie e pontue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73075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Registro da avaliação do atendimento.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99923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A6B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0304" y="201168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158984" y="2267712"/>
            <a:ext cx="694944" cy="694944"/>
          </a:xfrm>
          <a:prstGeom prst="roundRect">
            <a:avLst>
              <a:gd name="adj" fmla="val 12000"/>
            </a:avLst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58984" y="2450592"/>
            <a:ext cx="694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32461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Resgate benefícios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73075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Troca de pontos por benefícios SAFE.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469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No protótipo, a jornada é apresentada como experiência de navegação. As integrações de marketplace, pontos e benefícios pertencem a desafios específicos e serão conectadas posteriormente.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Modelo de planos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Estratégia freemium apresentada pelo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00200"/>
            <a:ext cx="3319272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7" y="199339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3A6B8A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4231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Acesso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999232"/>
            <a:ext cx="25603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Cadastro completo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Até 2 dependentes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2 avaliações/mês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Cupons limitados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7" y="480060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4919472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Conhecer plano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600200"/>
            <a:ext cx="3319272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2" y="135331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MAIS POPULAR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298448"/>
            <a:ext cx="1984248" cy="347472"/>
          </a:xfrm>
          <a:prstGeom prst="roundRect">
            <a:avLst>
              <a:gd name="adj" fmla="val 12000"/>
            </a:avLst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9744" y="199339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E53E2F"/>
                </a:solidFill>
                <a:latin typeface="Aptos"/>
              </a:defRPr>
            </a:pPr>
            <a:r>
              <a:t>AURA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4231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Mais benefícios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999232"/>
            <a:ext cx="25603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Até 5 dependentes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15 avaliações/mês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Mensalidade vira pontos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Cupons Aura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9744" y="480060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9744" y="4919472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Conhecer plano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00200"/>
            <a:ext cx="3319272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0" y="199339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4A9E8E"/>
                </a:solidFill>
                <a:latin typeface="Aptos"/>
              </a:defRPr>
            </a:pPr>
            <a:r>
              <a:t>AURA+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2316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Experiência ampliada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999232"/>
            <a:ext cx="25603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Dependentes ilimitados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Avaliações ilimitadas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Cupons Aura+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2E3B"/>
                </a:solidFill>
                <a:latin typeface="Aptos"/>
              </a:defRPr>
            </a:pPr>
            <a:r>
              <a:t>• Check-up gratuito*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800600"/>
            <a:ext cx="2743200" cy="438912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4919472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Conhecer plano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Na especificação, os planos pagos devem incluir aceite explícito de termos e contratos, integração com pagamento recorrente e atualização automática do status da assinatura.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Interações implementadas em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O protótipo oferece demonstrações de fluxos de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91440" cy="1353312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01368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Efeito no 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85416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Adiciona estilo ao rolar a página.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8728" y="160020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38728" y="1600200"/>
            <a:ext cx="91440" cy="1353312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1801368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Login e logout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185416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Alterna estado visual de autenticação.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60020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9088" y="1600200"/>
            <a:ext cx="91440" cy="1353312"/>
          </a:xfrm>
          <a:prstGeom prst="rect">
            <a:avLst/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47688" y="1801368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53E2F"/>
                </a:solidFill>
                <a:latin typeface="Aptos"/>
              </a:defRPr>
            </a:pPr>
            <a:r>
              <a:t>Modais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185416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Abre e fecha login, cadastro, indicação e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160020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99448" y="1600200"/>
            <a:ext cx="91440" cy="1353312"/>
          </a:xfrm>
          <a:prstGeom prst="rect">
            <a:avLst/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28048" y="1801368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8A020"/>
                </a:solidFill>
                <a:latin typeface="Aptos"/>
              </a:defRPr>
            </a:pPr>
            <a:r>
              <a:t>Recuperação de senha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185416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Simula envio de instruções ao e-mail informado.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7472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474720"/>
            <a:ext cx="91440" cy="1353312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675887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Cadastro por tipo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059935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Permite escolher o tipo de perfil no fluxo.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347472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38728" y="3474720"/>
            <a:ext cx="91440" cy="1353312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67328" y="3675887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Feedback e estrelas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67328" y="4059935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Formulário com avaliação de 1 a 5 estrelas.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3474720"/>
            <a:ext cx="2560320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19088" y="3474720"/>
            <a:ext cx="91440" cy="1353312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7688" y="3675887"/>
            <a:ext cx="2148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Depoimentos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4059935"/>
            <a:ext cx="214883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Carrossel paginado com cartões dinâmicos.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Leitura técnica do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Separação de responsabilidades no front-end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64992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38528"/>
            <a:ext cx="2889504" cy="475488"/>
          </a:xfrm>
          <a:prstGeom prst="roundRect">
            <a:avLst>
              <a:gd name="adj" fmla="val 12000"/>
            </a:avLst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66543"/>
            <a:ext cx="28895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7706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2E3B"/>
                </a:solidFill>
                <a:latin typeface="Aptos"/>
              </a:defRPr>
            </a:pPr>
            <a:r>
              <a:t>Estrutura da página, textos, seções, formulários e elementos de interação.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364992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09160" y="1938528"/>
            <a:ext cx="2889504" cy="475488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066543"/>
            <a:ext cx="28895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styles.css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80360"/>
            <a:ext cx="27706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2E3B"/>
                </a:solidFill>
                <a:latin typeface="Aptos"/>
              </a:defRPr>
            </a:pPr>
            <a:r>
              <a:t>Identidade visual, grid, responsividade, cartões, botões e modais.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364992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0" y="1938528"/>
            <a:ext cx="2889504" cy="475488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066543"/>
            <a:ext cx="288950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script.js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880360"/>
            <a:ext cx="277063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A2E3B"/>
                </a:solidFill>
                <a:latin typeface="Aptos"/>
              </a:defRPr>
            </a:pPr>
            <a:r>
              <a:t>Eventos, estados simulados, modais, formulários, avaliações e carrossel.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Aptos"/>
              </a:defRPr>
            </a:pPr>
            <a:r>
              <a:t>Pontos de destaque: uso de CSS Grid, media query para telas menores, variáveis de cor e uma organização por seções e componentes visuais.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Aderência: requisitos × protótipo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O que já é demonstrado visualmente e o que ainda precisa ser construído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8404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00200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Landing Page responsiva e CTAs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417320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600200"/>
            <a:ext cx="23591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Demonstrado no 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600200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Estrutura visual, seções e navegação.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58568"/>
            <a:ext cx="38404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441448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Login, logout e recuperação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258568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2441448"/>
            <a:ext cx="23591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Simulado no front-end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41448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Sem autenticação real ou persistência.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99816"/>
            <a:ext cx="38404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282696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Cadastro por perfis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1728" y="3099816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282696"/>
            <a:ext cx="23591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Fluxo visual parcialmente demonstrado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282696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Dados específicos e base de dados pendentes.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41064"/>
            <a:ext cx="38404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123944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Planos Free, Aura e Aura+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3941064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4123944"/>
            <a:ext cx="23591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Apresentado visualmente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123944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Contratos e pagamento recorrente pendentes.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82312"/>
            <a:ext cx="38404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965192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D4A5F"/>
                </a:solidFill>
                <a:latin typeface="Aptos"/>
              </a:defRPr>
            </a:pPr>
            <a:r>
              <a:t>RBAC, painel admin e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1728" y="4782312"/>
            <a:ext cx="2606040" cy="603504"/>
          </a:xfrm>
          <a:prstGeom prst="roundRect">
            <a:avLst>
              <a:gd name="adj" fmla="val 12000"/>
            </a:avLst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600" y="4965192"/>
            <a:ext cx="23591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Previsto na especificação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965192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Ainda não implementado no código fornecido.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2D4A5F"/>
                </a:solidFill>
                <a:latin typeface="Aptos Display"/>
              </a:defRPr>
            </a:pPr>
            <a:r>
              <a:t>Evolução necessária para o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Da demonstração front-end para a solução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143000" cy="54864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  <a:defRPr sz="1100" b="1">
                <a:solidFill>
                  <a:srgbClr val="3A6B8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463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4944" y="1463040"/>
            <a:ext cx="91440" cy="1371600"/>
          </a:xfrm>
          <a:prstGeom prst="rect">
            <a:avLst/>
          </a:prstGeom>
          <a:solidFill>
            <a:srgbClr val="3A6B8A"/>
          </a:solidFill>
          <a:ln>
            <a:solidFill>
              <a:srgbClr val="3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6642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Back-end e banco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048256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Persistir contas, perfis e demais informações de cadastro.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463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2272" y="1463040"/>
            <a:ext cx="91440" cy="1371600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6642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Autenticação segura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048256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Implementar hash de senha, HTTPS, recuperação real e controle de sessão.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91440" cy="1371600"/>
          </a:xfrm>
          <a:prstGeom prst="rect">
            <a:avLst/>
          </a:prstGeom>
          <a:solidFill>
            <a:srgbClr val="E53E2F"/>
          </a:solidFill>
          <a:ln>
            <a:solidFill>
              <a:srgbClr val="E53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664208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53E2F"/>
                </a:solidFill>
                <a:latin typeface="Aptos"/>
              </a:defRPr>
            </a:pPr>
            <a:r>
              <a:t>RBAC e painel administrativo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48256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Restringir acessos por papel e fornecer gestão interna.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493008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4944" y="3493008"/>
            <a:ext cx="91440" cy="1371600"/>
          </a:xfrm>
          <a:prstGeom prst="rect">
            <a:avLst/>
          </a:prstGeom>
          <a:solidFill>
            <a:srgbClr val="E8A020"/>
          </a:solidFill>
          <a:ln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369417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8A020"/>
                </a:solidFill>
                <a:latin typeface="Aptos"/>
              </a:defRPr>
            </a:pPr>
            <a:r>
              <a:t>Planos e pagamentos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4078224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Conectar gateway recorrente, webhooks e status de assinatura.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3493008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6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62272" y="3493008"/>
            <a:ext cx="91440" cy="1371600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2" y="3694176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2D4A5F"/>
                </a:solidFill>
                <a:latin typeface="Aptos"/>
              </a:defRPr>
            </a:pPr>
            <a:r>
              <a:t>APIs e integração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078224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Documentar contratos para os Desafios 2, 3, 4 e 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629400"/>
            <a:ext cx="10972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  <a:latin typeface="Aptos"/>
              </a:defRPr>
            </a:pPr>
            <a:r>
              <a:t>SAFEpass • Desafio 01                                      Responsável: Pessoa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5F"/>
          </a:solidFill>
          <a:ln>
            <a:solidFill>
              <a:srgbClr val="2D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A9E8E"/>
          </a:solidFill>
          <a:ln>
            <a:solidFill>
              <a:srgbClr val="4A9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012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100" b="0">
                <a:solidFill>
                  <a:srgbClr val="E1EFF6"/>
                </a:solidFill>
                <a:latin typeface="Aptos"/>
              </a:defRPr>
            </a:pPr>
            <a:r>
              <a:t>O SAFEpass propõe uma camada de entrada que combina aquisição de público, gestão de identidade e apresentação de planos em uma experiência centralizada.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907792"/>
            <a:ext cx="3291840" cy="1572768"/>
          </a:xfrm>
          <a:prstGeom prst="roundRect">
            <a:avLst>
              <a:gd name="adj" fmla="val 12000"/>
            </a:avLst>
          </a:prstGeom>
          <a:solidFill>
            <a:srgbClr val="39576B"/>
          </a:solidFill>
          <a:ln>
            <a:solidFill>
              <a:srgbClr val="4E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182112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4A9E8E"/>
                </a:solidFill>
                <a:latin typeface="Aptos"/>
              </a:defRPr>
            </a:pPr>
            <a:r>
              <a:t>Já demonstrado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584448"/>
            <a:ext cx="2743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CEAF1"/>
                </a:solidFill>
                <a:latin typeface="Aptos"/>
              </a:defRPr>
            </a:pPr>
            <a:r>
              <a:t>Landing Page, identidade visual e fluxos interativos simulados.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907792"/>
            <a:ext cx="3291840" cy="1572768"/>
          </a:xfrm>
          <a:prstGeom prst="roundRect">
            <a:avLst>
              <a:gd name="adj" fmla="val 12000"/>
            </a:avLst>
          </a:prstGeom>
          <a:solidFill>
            <a:srgbClr val="39576B"/>
          </a:solidFill>
          <a:ln>
            <a:solidFill>
              <a:srgbClr val="4E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3182112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E8A020"/>
                </a:solidFill>
                <a:latin typeface="Aptos"/>
              </a:defRPr>
            </a:pPr>
            <a:r>
              <a:t>A construir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3584448"/>
            <a:ext cx="2743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CEAF1"/>
                </a:solidFill>
                <a:latin typeface="Aptos"/>
              </a:defRPr>
            </a:pPr>
            <a:r>
              <a:t>Back-end, segurança, RBAC, painel administrativo, APIs e pagamentos.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3" y="2907792"/>
            <a:ext cx="3291840" cy="1572768"/>
          </a:xfrm>
          <a:prstGeom prst="roundRect">
            <a:avLst>
              <a:gd name="adj" fmla="val 12000"/>
            </a:avLst>
          </a:prstGeom>
          <a:solidFill>
            <a:srgbClr val="39576B"/>
          </a:solidFill>
          <a:ln>
            <a:solidFill>
              <a:srgbClr val="4E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3063" y="3182112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3A6B8A"/>
                </a:solidFill>
                <a:latin typeface="Aptos"/>
              </a:defRPr>
            </a:pPr>
            <a:r>
              <a:t>Valor do módulo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3063" y="3584448"/>
            <a:ext cx="27432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DCEAF1"/>
                </a:solidFill>
                <a:latin typeface="Aptos"/>
              </a:defRPr>
            </a:pPr>
            <a:r>
              <a:t>Base transversal para a evolução integrada dos demais desafios.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5099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Obrigado!  |  Perguntas?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0819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EDCE9"/>
                </a:solidFill>
                <a:latin typeface="Aptos"/>
              </a:defRPr>
            </a:pPr>
            <a:r>
              <a:t>Equipe SAFEpass • Desafio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1482</Words>
  <Application>Microsoft Office PowerPoint</Application>
  <PresentationFormat>Widescreen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2026-09-14T14:23:50Z</dcterms:modified>
  <cp:category/>
</cp:coreProperties>
</file>